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Kompot Display" charset="1" panose="00000000000000000000"/>
      <p:regular r:id="rId15"/>
    </p:embeddedFont>
    <p:embeddedFont>
      <p:font typeface="TOMO Acuario" charset="1" panose="00000500000000000000"/>
      <p:regular r:id="rId16"/>
    </p:embeddedFont>
    <p:embeddedFont>
      <p:font typeface="Bugaki" charset="1" panose="00000000000000000000"/>
      <p:regular r:id="rId17"/>
    </p:embeddedFont>
    <p:embeddedFont>
      <p:font typeface="Brice BoldCondense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92385" y="-220810"/>
            <a:ext cx="10536385" cy="10536385"/>
          </a:xfrm>
          <a:custGeom>
            <a:avLst/>
            <a:gdLst/>
            <a:ahLst/>
            <a:cxnLst/>
            <a:rect r="r" b="b" t="t" l="l"/>
            <a:pathLst>
              <a:path h="10536385" w="10536385">
                <a:moveTo>
                  <a:pt x="0" y="0"/>
                </a:moveTo>
                <a:lnTo>
                  <a:pt x="10536385" y="0"/>
                </a:lnTo>
                <a:lnTo>
                  <a:pt x="10536385" y="10536385"/>
                </a:lnTo>
                <a:lnTo>
                  <a:pt x="0" y="10536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true" rot="0">
            <a:off x="9144000" y="28575"/>
            <a:ext cx="10536385" cy="10536385"/>
          </a:xfrm>
          <a:custGeom>
            <a:avLst/>
            <a:gdLst/>
            <a:ahLst/>
            <a:cxnLst/>
            <a:rect r="r" b="b" t="t" l="l"/>
            <a:pathLst>
              <a:path h="10536385" w="10536385">
                <a:moveTo>
                  <a:pt x="0" y="10536385"/>
                </a:moveTo>
                <a:lnTo>
                  <a:pt x="10536385" y="10536385"/>
                </a:lnTo>
                <a:lnTo>
                  <a:pt x="10536385" y="0"/>
                </a:lnTo>
                <a:lnTo>
                  <a:pt x="0" y="0"/>
                </a:lnTo>
                <a:lnTo>
                  <a:pt x="0" y="1053638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68028" y="-265472"/>
            <a:ext cx="18846178" cy="6503047"/>
            <a:chOff x="0" y="0"/>
            <a:chExt cx="4963602" cy="17127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63602" cy="1712737"/>
            </a:xfrm>
            <a:custGeom>
              <a:avLst/>
              <a:gdLst/>
              <a:ahLst/>
              <a:cxnLst/>
              <a:rect r="r" b="b" t="t" l="l"/>
              <a:pathLst>
                <a:path h="1712737" w="4963602">
                  <a:moveTo>
                    <a:pt x="0" y="0"/>
                  </a:moveTo>
                  <a:lnTo>
                    <a:pt x="4963602" y="0"/>
                  </a:lnTo>
                  <a:lnTo>
                    <a:pt x="4963602" y="1712737"/>
                  </a:lnTo>
                  <a:lnTo>
                    <a:pt x="0" y="1712737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963602" cy="1779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338897" y="1493256"/>
            <a:ext cx="7610206" cy="4744318"/>
          </a:xfrm>
          <a:custGeom>
            <a:avLst/>
            <a:gdLst/>
            <a:ahLst/>
            <a:cxnLst/>
            <a:rect r="r" b="b" t="t" l="l"/>
            <a:pathLst>
              <a:path h="4744318" w="7610206">
                <a:moveTo>
                  <a:pt x="0" y="0"/>
                </a:moveTo>
                <a:lnTo>
                  <a:pt x="7610206" y="0"/>
                </a:lnTo>
                <a:lnTo>
                  <a:pt x="7610206" y="4744318"/>
                </a:lnTo>
                <a:lnTo>
                  <a:pt x="0" y="4744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</a:blip>
            <a:stretch>
              <a:fillRect l="-13086" t="-23734" r="-16185" b="-8362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38897" y="6237574"/>
            <a:ext cx="7610206" cy="2556170"/>
          </a:xfrm>
          <a:custGeom>
            <a:avLst/>
            <a:gdLst/>
            <a:ahLst/>
            <a:cxnLst/>
            <a:rect r="r" b="b" t="t" l="l"/>
            <a:pathLst>
              <a:path h="2556170" w="7610206">
                <a:moveTo>
                  <a:pt x="0" y="0"/>
                </a:moveTo>
                <a:lnTo>
                  <a:pt x="7610206" y="0"/>
                </a:lnTo>
                <a:lnTo>
                  <a:pt x="7610206" y="2556170"/>
                </a:lnTo>
                <a:lnTo>
                  <a:pt x="0" y="2556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-13086" t="-229653" r="-16185" b="-55214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219299" y="223911"/>
            <a:ext cx="17849402" cy="9839177"/>
            <a:chOff x="0" y="0"/>
            <a:chExt cx="4701077" cy="25913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01077" cy="2591388"/>
            </a:xfrm>
            <a:custGeom>
              <a:avLst/>
              <a:gdLst/>
              <a:ahLst/>
              <a:cxnLst/>
              <a:rect r="r" b="b" t="t" l="l"/>
              <a:pathLst>
                <a:path h="2591388" w="4701077">
                  <a:moveTo>
                    <a:pt x="0" y="0"/>
                  </a:moveTo>
                  <a:lnTo>
                    <a:pt x="4701077" y="0"/>
                  </a:lnTo>
                  <a:lnTo>
                    <a:pt x="4701077" y="2591388"/>
                  </a:lnTo>
                  <a:lnTo>
                    <a:pt x="0" y="2591388"/>
                  </a:lnTo>
                  <a:close/>
                </a:path>
              </a:pathLst>
            </a:custGeom>
            <a:ln w="95250" cap="sq">
              <a:solidFill>
                <a:srgbClr val="1D8546"/>
              </a:solidFill>
              <a:prstDash val="lg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4701077" cy="2658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872576">
            <a:off x="5471846" y="5800128"/>
            <a:ext cx="1405520" cy="1238250"/>
          </a:xfrm>
          <a:custGeom>
            <a:avLst/>
            <a:gdLst/>
            <a:ahLst/>
            <a:cxnLst/>
            <a:rect r="r" b="b" t="t" l="l"/>
            <a:pathLst>
              <a:path h="1238250" w="1405520">
                <a:moveTo>
                  <a:pt x="0" y="0"/>
                </a:moveTo>
                <a:lnTo>
                  <a:pt x="1405520" y="0"/>
                </a:lnTo>
                <a:lnTo>
                  <a:pt x="140552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136635" y="873183"/>
            <a:ext cx="10899638" cy="1139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8499" u="sng">
                <a:solidFill>
                  <a:srgbClr val="1D8546"/>
                </a:solidFill>
                <a:latin typeface="Kompot Display"/>
                <a:ea typeface="Kompot Display"/>
                <a:cs typeface="Kompot Display"/>
                <a:sym typeface="Kompot Display"/>
              </a:rPr>
              <a:t>Proyecto formativo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3508433"/>
            <a:ext cx="18288000" cy="968319"/>
            <a:chOff x="0" y="0"/>
            <a:chExt cx="4816593" cy="2550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255030"/>
            </a:xfrm>
            <a:custGeom>
              <a:avLst/>
              <a:gdLst/>
              <a:ahLst/>
              <a:cxnLst/>
              <a:rect r="r" b="b" t="t" l="l"/>
              <a:pathLst>
                <a:path h="2550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55030"/>
                  </a:lnTo>
                  <a:lnTo>
                    <a:pt x="0" y="255030"/>
                  </a:lnTo>
                  <a:close/>
                </a:path>
              </a:pathLst>
            </a:custGeom>
            <a:solidFill>
              <a:srgbClr val="E5DFE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816593" cy="321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251727" y="3644930"/>
            <a:ext cx="1178454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9"/>
              </a:lnSpc>
            </a:pPr>
            <a:r>
              <a:rPr lang="en-US" sz="4999" spc="204">
                <a:solidFill>
                  <a:srgbClr val="1D8546"/>
                </a:solidFill>
                <a:latin typeface="TOMO Acuario"/>
                <a:ea typeface="TOMO Acuario"/>
                <a:cs typeface="TOMO Acuario"/>
                <a:sym typeface="TOMO Acuario"/>
              </a:rPr>
              <a:t>HUMONGOUS GYM GESTOR (HGG)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275907"/>
            <a:ext cx="4609855" cy="18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B494C"/>
                </a:solidFill>
                <a:latin typeface="Bugaki"/>
                <a:ea typeface="Bugaki"/>
                <a:cs typeface="Bugaki"/>
                <a:sym typeface="Bugaki"/>
              </a:rPr>
              <a:t>BONILLA SALCEDO, JHORMAN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B494C"/>
                </a:solidFill>
                <a:latin typeface="Bugaki"/>
                <a:ea typeface="Bugaki"/>
                <a:cs typeface="Bugaki"/>
                <a:sym typeface="Bugaki"/>
              </a:rPr>
              <a:t>LEMUS, JUAN CAMILO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B494C"/>
                </a:solidFill>
                <a:latin typeface="Bugaki"/>
                <a:ea typeface="Bugaki"/>
                <a:cs typeface="Bugaki"/>
                <a:sym typeface="Bugaki"/>
              </a:rPr>
              <a:t>ORTEGA CUY, GABRIELA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B494C"/>
                </a:solidFill>
                <a:latin typeface="Bugaki"/>
                <a:ea typeface="Bugaki"/>
                <a:cs typeface="Bugaki"/>
                <a:sym typeface="Bugaki"/>
              </a:rPr>
              <a:t>ROJAS GALLEGO, DYLAN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761558"/>
            <a:ext cx="4786837" cy="590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9"/>
              </a:lnSpc>
              <a:spcBef>
                <a:spcPct val="0"/>
              </a:spcBef>
            </a:pPr>
            <a:r>
              <a:rPr lang="en-US" b="true" sz="4499" strike="noStrike" u="none">
                <a:solidFill>
                  <a:srgbClr val="1D8546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Una presentación hecha por: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38897" y="1944882"/>
            <a:ext cx="8217805" cy="166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8"/>
              </a:lnSpc>
            </a:pPr>
            <a:r>
              <a:rPr lang="en-US" sz="6408">
                <a:solidFill>
                  <a:srgbClr val="1D8546"/>
                </a:solidFill>
                <a:latin typeface="Kompot Display"/>
                <a:ea typeface="Kompot Display"/>
                <a:cs typeface="Kompot Display"/>
                <a:sym typeface="Kompot Display"/>
              </a:rPr>
              <a:t>Componente medotododologico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6406081" y="8421950"/>
            <a:ext cx="1270324" cy="1270324"/>
            <a:chOff x="0" y="0"/>
            <a:chExt cx="14840029" cy="148400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DFDF">
                    <a:alpha val="100000"/>
                  </a:srgbClr>
                </a:gs>
                <a:gs pos="100000">
                  <a:srgbClr val="EBF09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3706" t="0" r="-3706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035098" y="4635835"/>
            <a:ext cx="8217805" cy="89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3408" u="sng">
                <a:solidFill>
                  <a:srgbClr val="1D8546"/>
                </a:solidFill>
                <a:latin typeface="Kompot Display"/>
                <a:ea typeface="Kompot Display"/>
                <a:cs typeface="Kompot Display"/>
                <a:sym typeface="Kompot Display"/>
              </a:rPr>
              <a:t>Sistema de administración, agendamientos y  servicios de gimnasio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92385" y="-220810"/>
            <a:ext cx="10536385" cy="10536385"/>
          </a:xfrm>
          <a:custGeom>
            <a:avLst/>
            <a:gdLst/>
            <a:ahLst/>
            <a:cxnLst/>
            <a:rect r="r" b="b" t="t" l="l"/>
            <a:pathLst>
              <a:path h="10536385" w="10536385">
                <a:moveTo>
                  <a:pt x="0" y="0"/>
                </a:moveTo>
                <a:lnTo>
                  <a:pt x="10536385" y="0"/>
                </a:lnTo>
                <a:lnTo>
                  <a:pt x="10536385" y="10536385"/>
                </a:lnTo>
                <a:lnTo>
                  <a:pt x="0" y="10536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true" rot="0">
            <a:off x="9144000" y="28575"/>
            <a:ext cx="10536385" cy="10536385"/>
          </a:xfrm>
          <a:custGeom>
            <a:avLst/>
            <a:gdLst/>
            <a:ahLst/>
            <a:cxnLst/>
            <a:rect r="r" b="b" t="t" l="l"/>
            <a:pathLst>
              <a:path h="10536385" w="10536385">
                <a:moveTo>
                  <a:pt x="0" y="10536385"/>
                </a:moveTo>
                <a:lnTo>
                  <a:pt x="10536385" y="10536385"/>
                </a:lnTo>
                <a:lnTo>
                  <a:pt x="10536385" y="0"/>
                </a:lnTo>
                <a:lnTo>
                  <a:pt x="0" y="0"/>
                </a:lnTo>
                <a:lnTo>
                  <a:pt x="0" y="10536385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219299" y="223911"/>
            <a:ext cx="17849402" cy="9839177"/>
            <a:chOff x="0" y="0"/>
            <a:chExt cx="4701077" cy="25913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01077" cy="2591388"/>
            </a:xfrm>
            <a:custGeom>
              <a:avLst/>
              <a:gdLst/>
              <a:ahLst/>
              <a:cxnLst/>
              <a:rect r="r" b="b" t="t" l="l"/>
              <a:pathLst>
                <a:path h="2591388" w="4701077">
                  <a:moveTo>
                    <a:pt x="0" y="0"/>
                  </a:moveTo>
                  <a:lnTo>
                    <a:pt x="4701077" y="0"/>
                  </a:lnTo>
                  <a:lnTo>
                    <a:pt x="4701077" y="2591388"/>
                  </a:lnTo>
                  <a:lnTo>
                    <a:pt x="0" y="2591388"/>
                  </a:lnTo>
                  <a:close/>
                </a:path>
              </a:pathLst>
            </a:custGeom>
            <a:ln w="95250" cap="sq">
              <a:solidFill>
                <a:srgbClr val="5D9E78"/>
              </a:solidFill>
              <a:prstDash val="lg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701077" cy="2658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98804" y="1744700"/>
            <a:ext cx="7513600" cy="7513600"/>
          </a:xfrm>
          <a:custGeom>
            <a:avLst/>
            <a:gdLst/>
            <a:ahLst/>
            <a:cxnLst/>
            <a:rect r="r" b="b" t="t" l="l"/>
            <a:pathLst>
              <a:path h="7513600" w="7513600">
                <a:moveTo>
                  <a:pt x="0" y="0"/>
                </a:moveTo>
                <a:lnTo>
                  <a:pt x="7513600" y="0"/>
                </a:lnTo>
                <a:lnTo>
                  <a:pt x="7513600" y="7513600"/>
                </a:lnTo>
                <a:lnTo>
                  <a:pt x="0" y="751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82000" y="623698"/>
            <a:ext cx="11711137" cy="114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0"/>
              </a:lnSpc>
            </a:pPr>
            <a:r>
              <a:rPr lang="en-US" sz="7580">
                <a:solidFill>
                  <a:srgbClr val="1D8546"/>
                </a:solidFill>
                <a:latin typeface="Bugaki"/>
                <a:ea typeface="Bugaki"/>
                <a:cs typeface="Bugaki"/>
                <a:sym typeface="Bugaki"/>
              </a:rPr>
              <a:t>Logo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0037" y="623698"/>
            <a:ext cx="11711137" cy="114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0"/>
              </a:lnSpc>
            </a:pPr>
            <a:r>
              <a:rPr lang="en-US" sz="7580">
                <a:solidFill>
                  <a:srgbClr val="1D8546"/>
                </a:solidFill>
                <a:latin typeface="Bugaki"/>
                <a:ea typeface="Bugaki"/>
                <a:cs typeface="Bugaki"/>
                <a:sym typeface="Bugaki"/>
              </a:rPr>
              <a:t>Slogan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01097" y="3401479"/>
            <a:ext cx="8018186" cy="256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1"/>
              </a:lnSpc>
            </a:pPr>
            <a:r>
              <a:rPr lang="en-US" sz="6701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“L</a:t>
            </a:r>
            <a:r>
              <a:rPr lang="en-US" sz="6701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 fuerza de tu gimnasio está en la gestión.”</a:t>
            </a:r>
          </a:p>
          <a:p>
            <a:pPr algn="ctr">
              <a:lnSpc>
                <a:spcPts val="6701"/>
              </a:lnSpc>
            </a:pPr>
          </a:p>
        </p:txBody>
      </p:sp>
      <p:sp>
        <p:nvSpPr>
          <p:cNvPr name="AutoShape 11" id="11"/>
          <p:cNvSpPr/>
          <p:nvPr/>
        </p:nvSpPr>
        <p:spPr>
          <a:xfrm>
            <a:off x="9197719" y="966944"/>
            <a:ext cx="0" cy="81654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558481" y="8574350"/>
            <a:ext cx="1270324" cy="1270324"/>
            <a:chOff x="0" y="0"/>
            <a:chExt cx="14840029" cy="148400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DFDF">
                    <a:alpha val="100000"/>
                  </a:srgbClr>
                </a:gs>
                <a:gs pos="100000">
                  <a:srgbClr val="EBF09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3706" t="0" r="-3706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6472" y="3074072"/>
            <a:ext cx="7392230" cy="6989017"/>
          </a:xfrm>
          <a:custGeom>
            <a:avLst/>
            <a:gdLst/>
            <a:ahLst/>
            <a:cxnLst/>
            <a:rect r="r" b="b" t="t" l="l"/>
            <a:pathLst>
              <a:path h="6989017" w="7392230">
                <a:moveTo>
                  <a:pt x="0" y="0"/>
                </a:moveTo>
                <a:lnTo>
                  <a:pt x="7392229" y="0"/>
                </a:lnTo>
                <a:lnTo>
                  <a:pt x="7392229" y="6989017"/>
                </a:lnTo>
                <a:lnTo>
                  <a:pt x="0" y="6989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19103"/>
            <a:ext cx="10041887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03352" indent="-701676" lvl="1">
              <a:lnSpc>
                <a:spcPts val="6500"/>
              </a:lnSpc>
              <a:buAutoNum type="arabicPeriod" startAt="1"/>
            </a:pPr>
            <a:r>
              <a:rPr lang="en-US" sz="6500">
                <a:solidFill>
                  <a:srgbClr val="1D8546"/>
                </a:solidFill>
                <a:latin typeface="Bugaki"/>
                <a:ea typeface="Bugaki"/>
                <a:cs typeface="Bugaki"/>
                <a:sym typeface="Bugaki"/>
              </a:rPr>
              <a:t>Objetivo General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0409" y="3571492"/>
            <a:ext cx="9889975" cy="6547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67"/>
              </a:lnSpc>
            </a:pPr>
            <a:r>
              <a:rPr lang="en-US" sz="5767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Desarrollar un software centralizado que optimiza la administración de clientes el agendamiento de citas y la venta de membresías en sus planes básicos semipersonalizados y personalizados:</a:t>
            </a:r>
          </a:p>
          <a:p>
            <a:pPr algn="just">
              <a:lnSpc>
                <a:spcPts val="5767"/>
              </a:lnSpc>
            </a:pPr>
          </a:p>
          <a:p>
            <a:pPr algn="just">
              <a:lnSpc>
                <a:spcPts val="5767"/>
              </a:lnSpc>
            </a:pPr>
          </a:p>
          <a:p>
            <a:pPr algn="just">
              <a:lnSpc>
                <a:spcPts val="5767"/>
              </a:lnSpc>
            </a:pPr>
          </a:p>
          <a:p>
            <a:pPr algn="just">
              <a:lnSpc>
                <a:spcPts val="5767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-431398" y="2845472"/>
            <a:ext cx="19323666" cy="0"/>
          </a:xfrm>
          <a:prstGeom prst="line">
            <a:avLst/>
          </a:prstGeom>
          <a:ln cap="flat" w="114300">
            <a:solidFill>
              <a:srgbClr val="4B49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396519" y="-1221754"/>
            <a:ext cx="0" cy="18261726"/>
          </a:xfrm>
          <a:prstGeom prst="line">
            <a:avLst/>
          </a:prstGeom>
          <a:ln cap="flat" w="114300">
            <a:solidFill>
              <a:srgbClr val="4B494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9016676"/>
            <a:ext cx="1270324" cy="1270324"/>
            <a:chOff x="0" y="0"/>
            <a:chExt cx="14840029" cy="148400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DFDF">
                    <a:alpha val="100000"/>
                  </a:srgbClr>
                </a:gs>
                <a:gs pos="100000">
                  <a:srgbClr val="EBF09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3706" t="0" r="-3706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299" y="223911"/>
            <a:ext cx="17849402" cy="9839177"/>
            <a:chOff x="0" y="0"/>
            <a:chExt cx="4701077" cy="25913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077" cy="2591388"/>
            </a:xfrm>
            <a:custGeom>
              <a:avLst/>
              <a:gdLst/>
              <a:ahLst/>
              <a:cxnLst/>
              <a:rect r="r" b="b" t="t" l="l"/>
              <a:pathLst>
                <a:path h="2591388" w="4701077">
                  <a:moveTo>
                    <a:pt x="0" y="0"/>
                  </a:moveTo>
                  <a:lnTo>
                    <a:pt x="4701077" y="0"/>
                  </a:lnTo>
                  <a:lnTo>
                    <a:pt x="4701077" y="2591388"/>
                  </a:lnTo>
                  <a:lnTo>
                    <a:pt x="0" y="2591388"/>
                  </a:lnTo>
                  <a:close/>
                </a:path>
              </a:pathLst>
            </a:custGeom>
            <a:ln w="114300" cap="sq">
              <a:solidFill>
                <a:srgbClr val="4B49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701077" cy="2658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3384" y="7043694"/>
            <a:ext cx="2417121" cy="2214606"/>
          </a:xfrm>
          <a:custGeom>
            <a:avLst/>
            <a:gdLst/>
            <a:ahLst/>
            <a:cxnLst/>
            <a:rect r="r" b="b" t="t" l="l"/>
            <a:pathLst>
              <a:path h="2214606" w="2417121">
                <a:moveTo>
                  <a:pt x="0" y="0"/>
                </a:moveTo>
                <a:lnTo>
                  <a:pt x="2417121" y="0"/>
                </a:lnTo>
                <a:lnTo>
                  <a:pt x="2417121" y="2214606"/>
                </a:lnTo>
                <a:lnTo>
                  <a:pt x="0" y="2214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36923" y="7798351"/>
            <a:ext cx="2214154" cy="2129613"/>
          </a:xfrm>
          <a:custGeom>
            <a:avLst/>
            <a:gdLst/>
            <a:ahLst/>
            <a:cxnLst/>
            <a:rect r="r" b="b" t="t" l="l"/>
            <a:pathLst>
              <a:path h="2129613" w="2214154">
                <a:moveTo>
                  <a:pt x="0" y="0"/>
                </a:moveTo>
                <a:lnTo>
                  <a:pt x="2214154" y="0"/>
                </a:lnTo>
                <a:lnTo>
                  <a:pt x="2214154" y="2129614"/>
                </a:lnTo>
                <a:lnTo>
                  <a:pt x="0" y="2129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01174" y="6668752"/>
            <a:ext cx="1996310" cy="2259198"/>
          </a:xfrm>
          <a:custGeom>
            <a:avLst/>
            <a:gdLst/>
            <a:ahLst/>
            <a:cxnLst/>
            <a:rect r="r" b="b" t="t" l="l"/>
            <a:pathLst>
              <a:path h="2259198" w="1996310">
                <a:moveTo>
                  <a:pt x="0" y="0"/>
                </a:moveTo>
                <a:lnTo>
                  <a:pt x="1996310" y="0"/>
                </a:lnTo>
                <a:lnTo>
                  <a:pt x="1996310" y="2259199"/>
                </a:lnTo>
                <a:lnTo>
                  <a:pt x="0" y="2259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86826" y="1854116"/>
            <a:ext cx="13114348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>
                <a:solidFill>
                  <a:srgbClr val="1D8546"/>
                </a:solidFill>
                <a:latin typeface="Bugaki"/>
                <a:ea typeface="Bugaki"/>
                <a:cs typeface="Bugaki"/>
                <a:sym typeface="Bugaki"/>
              </a:rPr>
              <a:t>2. Objetivos especificos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8800" y="2943141"/>
            <a:ext cx="1126308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Desarrollar un sitio web que permita: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80505" y="3651165"/>
            <a:ext cx="13114348" cy="442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Organizar y centralizar la información de los clientes del gimnasio mediante un sitio web que permita registrar y consultar sus datos de manera sencilla.</a:t>
            </a:r>
          </a:p>
          <a:p>
            <a:pPr algn="l" marL="755651" indent="-377825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Facilitar la gestión de los agendamientos de los clientes, permitiendo consultar y organizar las fechas y horarios disponibles.</a:t>
            </a:r>
          </a:p>
          <a:p>
            <a:pPr algn="l" marL="755651" indent="-377825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Clasificar los servicios de entrenamiento en básicos, semipersonalizados y personalizados, facilitando su consulta y administración.</a:t>
            </a:r>
          </a:p>
          <a:p>
            <a:pPr algn="l" marL="755651" indent="-377825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Mejorar el acceso a la información de los clientes y sus servicios, reduciendo la desorganización y pérdida de datos.</a:t>
            </a:r>
          </a:p>
          <a:p>
            <a:pPr algn="l" marL="755651" indent="-377825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Diseñar una interfaz sencilla e intuitiva que permita al personal del gimnasio gestionar la información de manera rápida y organizada.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93538" y="393538"/>
            <a:ext cx="1270324" cy="1270324"/>
            <a:chOff x="0" y="0"/>
            <a:chExt cx="14840029" cy="148400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DFDF">
                    <a:alpha val="100000"/>
                  </a:srgbClr>
                </a:gs>
                <a:gs pos="100000">
                  <a:srgbClr val="EBF09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3706" t="0" r="-3706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299" y="223911"/>
            <a:ext cx="17849402" cy="9839177"/>
            <a:chOff x="0" y="0"/>
            <a:chExt cx="4701077" cy="25913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077" cy="2591388"/>
            </a:xfrm>
            <a:custGeom>
              <a:avLst/>
              <a:gdLst/>
              <a:ahLst/>
              <a:cxnLst/>
              <a:rect r="r" b="b" t="t" l="l"/>
              <a:pathLst>
                <a:path h="2591388" w="4701077">
                  <a:moveTo>
                    <a:pt x="0" y="0"/>
                  </a:moveTo>
                  <a:lnTo>
                    <a:pt x="4701077" y="0"/>
                  </a:lnTo>
                  <a:lnTo>
                    <a:pt x="4701077" y="2591388"/>
                  </a:lnTo>
                  <a:lnTo>
                    <a:pt x="0" y="2591388"/>
                  </a:lnTo>
                  <a:close/>
                </a:path>
              </a:pathLst>
            </a:custGeom>
            <a:ln w="114300" cap="sq">
              <a:solidFill>
                <a:srgbClr val="4B49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701077" cy="2658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19175"/>
            <a:ext cx="11144871" cy="18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>
                <a:solidFill>
                  <a:srgbClr val="1D8546"/>
                </a:solidFill>
                <a:latin typeface="Bugaki"/>
                <a:ea typeface="Bugaki"/>
                <a:cs typeface="Bugaki"/>
                <a:sym typeface="Bugaki"/>
              </a:rPr>
              <a:t>3. Planteamiento del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73347"/>
            <a:ext cx="11166994" cy="537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4200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En la actualidad, muchos gimnasios (mayormente los pequeños como los de barrio) gestionan sus procesos administrativos y comerciales mediante registros físicos. Estas prácticas comunes en la industria son propensas a ocasionar perdida de información, dificultad para acceder a los datos en tiempo real, cruces y problemas en el agendamiento de clases y limitaciones en el control de las ventas, todo esto acarrea a tener deficiencias en el control de la información que se administra en el negocio. Surge entonces la necesidad de implementar un sistema digital de administración, agendamiento y ventas en línea que optimice la gestión interna y mejore la experiencia de los usuarios.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301668" y="8212190"/>
            <a:ext cx="1270324" cy="1270324"/>
            <a:chOff x="0" y="0"/>
            <a:chExt cx="14840029" cy="148400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DFDF">
                    <a:alpha val="100000"/>
                  </a:srgbClr>
                </a:gs>
                <a:gs pos="100000">
                  <a:srgbClr val="EBF09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2"/>
              <a:stretch>
                <a:fillRect l="-3706" t="0" r="-3706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299" y="223911"/>
            <a:ext cx="17849402" cy="9839177"/>
            <a:chOff x="0" y="0"/>
            <a:chExt cx="4701077" cy="25913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077" cy="2591388"/>
            </a:xfrm>
            <a:custGeom>
              <a:avLst/>
              <a:gdLst/>
              <a:ahLst/>
              <a:cxnLst/>
              <a:rect r="r" b="b" t="t" l="l"/>
              <a:pathLst>
                <a:path h="2591388" w="4701077">
                  <a:moveTo>
                    <a:pt x="0" y="0"/>
                  </a:moveTo>
                  <a:lnTo>
                    <a:pt x="4701077" y="0"/>
                  </a:lnTo>
                  <a:lnTo>
                    <a:pt x="4701077" y="2591388"/>
                  </a:lnTo>
                  <a:lnTo>
                    <a:pt x="0" y="2591388"/>
                  </a:lnTo>
                  <a:close/>
                </a:path>
              </a:pathLst>
            </a:custGeom>
            <a:ln w="114300" cap="sq">
              <a:solidFill>
                <a:srgbClr val="4B49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701077" cy="2658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22916">
            <a:off x="14517167" y="774742"/>
            <a:ext cx="3279913" cy="3154680"/>
          </a:xfrm>
          <a:custGeom>
            <a:avLst/>
            <a:gdLst/>
            <a:ahLst/>
            <a:cxnLst/>
            <a:rect r="r" b="b" t="t" l="l"/>
            <a:pathLst>
              <a:path h="3154680" w="3279913">
                <a:moveTo>
                  <a:pt x="0" y="0"/>
                </a:moveTo>
                <a:lnTo>
                  <a:pt x="3279913" y="0"/>
                </a:lnTo>
                <a:lnTo>
                  <a:pt x="3279913" y="3154680"/>
                </a:lnTo>
                <a:lnTo>
                  <a:pt x="0" y="3154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616093">
            <a:off x="737931" y="6140026"/>
            <a:ext cx="2366564" cy="2562225"/>
          </a:xfrm>
          <a:custGeom>
            <a:avLst/>
            <a:gdLst/>
            <a:ahLst/>
            <a:cxnLst/>
            <a:rect r="r" b="b" t="t" l="l"/>
            <a:pathLst>
              <a:path h="2562225" w="2366564">
                <a:moveTo>
                  <a:pt x="0" y="0"/>
                </a:moveTo>
                <a:lnTo>
                  <a:pt x="2366564" y="0"/>
                </a:lnTo>
                <a:lnTo>
                  <a:pt x="2366564" y="2562225"/>
                </a:lnTo>
                <a:lnTo>
                  <a:pt x="0" y="2562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945393" y="5792099"/>
            <a:ext cx="3466201" cy="3466201"/>
          </a:xfrm>
          <a:custGeom>
            <a:avLst/>
            <a:gdLst/>
            <a:ahLst/>
            <a:cxnLst/>
            <a:rect r="r" b="b" t="t" l="l"/>
            <a:pathLst>
              <a:path h="3466201" w="3466201">
                <a:moveTo>
                  <a:pt x="0" y="0"/>
                </a:moveTo>
                <a:lnTo>
                  <a:pt x="3466202" y="0"/>
                </a:lnTo>
                <a:lnTo>
                  <a:pt x="3466202" y="3466201"/>
                </a:lnTo>
                <a:lnTo>
                  <a:pt x="0" y="3466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42398" y="5834097"/>
            <a:ext cx="3388512" cy="3388512"/>
          </a:xfrm>
          <a:custGeom>
            <a:avLst/>
            <a:gdLst/>
            <a:ahLst/>
            <a:cxnLst/>
            <a:rect r="r" b="b" t="t" l="l"/>
            <a:pathLst>
              <a:path h="3388512" w="3388512">
                <a:moveTo>
                  <a:pt x="0" y="0"/>
                </a:moveTo>
                <a:lnTo>
                  <a:pt x="3388512" y="0"/>
                </a:lnTo>
                <a:lnTo>
                  <a:pt x="3388512" y="3388512"/>
                </a:lnTo>
                <a:lnTo>
                  <a:pt x="0" y="33885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86826" y="1854116"/>
            <a:ext cx="13091668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>
                <a:solidFill>
                  <a:srgbClr val="1D8546"/>
                </a:solidFill>
                <a:latin typeface="Bugaki"/>
                <a:ea typeface="Bugaki"/>
                <a:cs typeface="Bugaki"/>
                <a:sym typeface="Bugaki"/>
              </a:rPr>
              <a:t>4. Pregunta problema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86826" y="3350297"/>
            <a:ext cx="10707067" cy="254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¿Cómo de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sa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rroll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 un 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oftware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q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u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 ayude a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g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i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mnas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i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o 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o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gan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i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z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m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jor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la 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info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mación 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de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su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 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cliente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, 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es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,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membre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ías y ve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n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tas, ademas que ayude a f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cilitar l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ad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min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is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t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ción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de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 neg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o</a:t>
            </a:r>
            <a:r>
              <a:rPr lang="en-US" b="true" sz="49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cio?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650889" y="593317"/>
            <a:ext cx="1270324" cy="1270324"/>
            <a:chOff x="0" y="0"/>
            <a:chExt cx="14840029" cy="148400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DFDF">
                    <a:alpha val="100000"/>
                  </a:srgbClr>
                </a:gs>
                <a:gs pos="100000">
                  <a:srgbClr val="EBF09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3706" t="0" r="-370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299" y="223911"/>
            <a:ext cx="17849402" cy="9839177"/>
            <a:chOff x="0" y="0"/>
            <a:chExt cx="4701077" cy="25913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077" cy="2591388"/>
            </a:xfrm>
            <a:custGeom>
              <a:avLst/>
              <a:gdLst/>
              <a:ahLst/>
              <a:cxnLst/>
              <a:rect r="r" b="b" t="t" l="l"/>
              <a:pathLst>
                <a:path h="2591388" w="4701077">
                  <a:moveTo>
                    <a:pt x="0" y="0"/>
                  </a:moveTo>
                  <a:lnTo>
                    <a:pt x="4701077" y="0"/>
                  </a:lnTo>
                  <a:lnTo>
                    <a:pt x="4701077" y="2591388"/>
                  </a:lnTo>
                  <a:lnTo>
                    <a:pt x="0" y="2591388"/>
                  </a:lnTo>
                  <a:close/>
                </a:path>
              </a:pathLst>
            </a:custGeom>
            <a:ln w="114300" cap="sq">
              <a:solidFill>
                <a:srgbClr val="4B49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701077" cy="2658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30313" y="7032978"/>
            <a:ext cx="1766513" cy="1766513"/>
          </a:xfrm>
          <a:custGeom>
            <a:avLst/>
            <a:gdLst/>
            <a:ahLst/>
            <a:cxnLst/>
            <a:rect r="r" b="b" t="t" l="l"/>
            <a:pathLst>
              <a:path h="1766513" w="1766513">
                <a:moveTo>
                  <a:pt x="0" y="0"/>
                </a:moveTo>
                <a:lnTo>
                  <a:pt x="1766513" y="0"/>
                </a:lnTo>
                <a:lnTo>
                  <a:pt x="1766513" y="1766514"/>
                </a:lnTo>
                <a:lnTo>
                  <a:pt x="0" y="1766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50185" y="7032978"/>
            <a:ext cx="1970755" cy="1766513"/>
          </a:xfrm>
          <a:custGeom>
            <a:avLst/>
            <a:gdLst/>
            <a:ahLst/>
            <a:cxnLst/>
            <a:rect r="r" b="b" t="t" l="l"/>
            <a:pathLst>
              <a:path h="1766513" w="1970755">
                <a:moveTo>
                  <a:pt x="0" y="0"/>
                </a:moveTo>
                <a:lnTo>
                  <a:pt x="1970755" y="0"/>
                </a:lnTo>
                <a:lnTo>
                  <a:pt x="1970755" y="1766514"/>
                </a:lnTo>
                <a:lnTo>
                  <a:pt x="0" y="1766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06199" y="7032978"/>
            <a:ext cx="1631616" cy="1766513"/>
          </a:xfrm>
          <a:custGeom>
            <a:avLst/>
            <a:gdLst/>
            <a:ahLst/>
            <a:cxnLst/>
            <a:rect r="r" b="b" t="t" l="l"/>
            <a:pathLst>
              <a:path h="1766513" w="1631616">
                <a:moveTo>
                  <a:pt x="0" y="0"/>
                </a:moveTo>
                <a:lnTo>
                  <a:pt x="1631616" y="0"/>
                </a:lnTo>
                <a:lnTo>
                  <a:pt x="1631616" y="1766514"/>
                </a:lnTo>
                <a:lnTo>
                  <a:pt x="0" y="1766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86826" y="1854116"/>
            <a:ext cx="13091668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>
                <a:solidFill>
                  <a:srgbClr val="1D8546"/>
                </a:solidFill>
                <a:latin typeface="Bugaki"/>
                <a:ea typeface="Bugaki"/>
                <a:cs typeface="Bugaki"/>
                <a:sym typeface="Bugaki"/>
              </a:rPr>
              <a:t>5. Alcance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86826" y="3145589"/>
            <a:ext cx="12650989" cy="367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23"/>
              </a:lnSpc>
              <a:spcBef>
                <a:spcPct val="0"/>
              </a:spcBef>
            </a:pPr>
            <a:r>
              <a:rPr lang="en-US" sz="4823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El proyecto co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n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sist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en c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ear un sof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t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ware para ayudar a adm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i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nistra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 e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 gim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n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asio de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u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na manera más fácil y organizada. El sistema permitirá llevar el registro de los clientes, controlar las mem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b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resías, organizar 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as 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lases, reg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i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str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 ventas 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y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cons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u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ltar la información 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d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el gimn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sio.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Con esto se b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u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c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 dejar de depender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t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nto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de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los regi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st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ros en papel, evitar la pérdida de inform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ac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ión y facilit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ar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 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e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 trabajo del personal</a:t>
            </a:r>
            <a:r>
              <a:rPr lang="en-US" b="true" sz="4823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6525723" y="444341"/>
            <a:ext cx="1270324" cy="1270324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DFDF">
                    <a:alpha val="100000"/>
                  </a:srgbClr>
                </a:gs>
                <a:gs pos="100000">
                  <a:srgbClr val="EBF09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3706" t="0" r="-3706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299" y="223911"/>
            <a:ext cx="17849402" cy="9839177"/>
            <a:chOff x="0" y="0"/>
            <a:chExt cx="4701077" cy="25913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077" cy="2591388"/>
            </a:xfrm>
            <a:custGeom>
              <a:avLst/>
              <a:gdLst/>
              <a:ahLst/>
              <a:cxnLst/>
              <a:rect r="r" b="b" t="t" l="l"/>
              <a:pathLst>
                <a:path h="2591388" w="4701077">
                  <a:moveTo>
                    <a:pt x="0" y="0"/>
                  </a:moveTo>
                  <a:lnTo>
                    <a:pt x="4701077" y="0"/>
                  </a:lnTo>
                  <a:lnTo>
                    <a:pt x="4701077" y="2591388"/>
                  </a:lnTo>
                  <a:lnTo>
                    <a:pt x="0" y="2591388"/>
                  </a:lnTo>
                  <a:close/>
                </a:path>
              </a:pathLst>
            </a:custGeom>
            <a:ln w="114300" cap="sq">
              <a:solidFill>
                <a:srgbClr val="4B49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701077" cy="2658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86826" y="1854116"/>
            <a:ext cx="13114348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6500" strike="noStrike" u="none">
                <a:solidFill>
                  <a:srgbClr val="1D8546"/>
                </a:solidFill>
                <a:latin typeface="Bugaki"/>
                <a:ea typeface="Bugaki"/>
                <a:cs typeface="Bugaki"/>
                <a:sym typeface="Bugaki"/>
              </a:rPr>
              <a:t>6. Justificación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86826" y="3321722"/>
            <a:ext cx="13114348" cy="335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4399" strike="noStrike" u="none">
                <a:solidFill>
                  <a:srgbClr val="000000"/>
                </a:solidFill>
                <a:latin typeface="Brice BoldCondensed"/>
                <a:ea typeface="Brice BoldCondensed"/>
                <a:cs typeface="Brice BoldCondensed"/>
                <a:sym typeface="Brice BoldCondensed"/>
              </a:rPr>
              <a:t>La gestión administrativa de muchos gimnasios se realiza mediante registros físicos, lo que genera pérdida de información, retrasos en la atención y  dificultades en el control de clientes y ventas. Implementar un sistema digital de administración, agendamiento y ventas en línea permitirá optimizar los procesos internos, garantizar la mayor seguridad en el manejo de datos y mejorar la experiencia de los usuarios.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367738" y="8504166"/>
            <a:ext cx="1270324" cy="1270324"/>
            <a:chOff x="0" y="0"/>
            <a:chExt cx="14840029" cy="148400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2DFDF">
                    <a:alpha val="100000"/>
                  </a:srgbClr>
                </a:gs>
                <a:gs pos="100000">
                  <a:srgbClr val="EBF09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2"/>
              <a:stretch>
                <a:fillRect l="-3706" t="0" r="-3706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46720" y="2106195"/>
            <a:ext cx="8394561" cy="6074609"/>
          </a:xfrm>
          <a:custGeom>
            <a:avLst/>
            <a:gdLst/>
            <a:ahLst/>
            <a:cxnLst/>
            <a:rect r="r" b="b" t="t" l="l"/>
            <a:pathLst>
              <a:path h="6074609" w="8394561">
                <a:moveTo>
                  <a:pt x="0" y="0"/>
                </a:moveTo>
                <a:lnTo>
                  <a:pt x="8394560" y="0"/>
                </a:lnTo>
                <a:lnTo>
                  <a:pt x="8394560" y="6074610"/>
                </a:lnTo>
                <a:lnTo>
                  <a:pt x="0" y="607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5176" y="4230947"/>
            <a:ext cx="18638352" cy="1825107"/>
            <a:chOff x="0" y="0"/>
            <a:chExt cx="4908866" cy="4806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08866" cy="480687"/>
            </a:xfrm>
            <a:custGeom>
              <a:avLst/>
              <a:gdLst/>
              <a:ahLst/>
              <a:cxnLst/>
              <a:rect r="r" b="b" t="t" l="l"/>
              <a:pathLst>
                <a:path h="480687" w="4908866">
                  <a:moveTo>
                    <a:pt x="0" y="0"/>
                  </a:moveTo>
                  <a:lnTo>
                    <a:pt x="4908866" y="0"/>
                  </a:lnTo>
                  <a:lnTo>
                    <a:pt x="4908866" y="480687"/>
                  </a:lnTo>
                  <a:lnTo>
                    <a:pt x="0" y="480687"/>
                  </a:lnTo>
                  <a:close/>
                </a:path>
              </a:pathLst>
            </a:custGeom>
            <a:solidFill>
              <a:srgbClr val="E5DFE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908866" cy="547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78489" y="4497373"/>
            <a:ext cx="12931023" cy="135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03"/>
              </a:lnSpc>
              <a:spcBef>
                <a:spcPct val="0"/>
              </a:spcBef>
            </a:pPr>
            <a:r>
              <a:rPr lang="en-US" sz="9372" spc="384" strike="noStrike" u="none">
                <a:solidFill>
                  <a:srgbClr val="5D9E78"/>
                </a:solidFill>
                <a:latin typeface="TOMO Acuario"/>
                <a:ea typeface="TOMO Acuario"/>
                <a:cs typeface="TOMO Acuario"/>
                <a:sym typeface="TOMO Acuario"/>
              </a:rPr>
              <a:t>MUCHAS GRACIAS.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19299" y="223911"/>
            <a:ext cx="17849402" cy="9839177"/>
            <a:chOff x="0" y="0"/>
            <a:chExt cx="4701077" cy="25913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01077" cy="2591388"/>
            </a:xfrm>
            <a:custGeom>
              <a:avLst/>
              <a:gdLst/>
              <a:ahLst/>
              <a:cxnLst/>
              <a:rect r="r" b="b" t="t" l="l"/>
              <a:pathLst>
                <a:path h="2591388" w="4701077">
                  <a:moveTo>
                    <a:pt x="0" y="0"/>
                  </a:moveTo>
                  <a:lnTo>
                    <a:pt x="4701077" y="0"/>
                  </a:lnTo>
                  <a:lnTo>
                    <a:pt x="4701077" y="2591388"/>
                  </a:lnTo>
                  <a:lnTo>
                    <a:pt x="0" y="2591388"/>
                  </a:lnTo>
                  <a:close/>
                </a:path>
              </a:pathLst>
            </a:custGeom>
            <a:ln w="114300" cap="sq">
              <a:solidFill>
                <a:srgbClr val="4B494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4701077" cy="2658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DAHRpxm4ThI</dc:identifier>
  <dcterms:modified xsi:type="dcterms:W3CDTF">2011-08-01T06:04:30Z</dcterms:modified>
  <cp:revision>1</cp:revision>
  <dc:title>Presentación Proyecto HGG</dc:title>
</cp:coreProperties>
</file>